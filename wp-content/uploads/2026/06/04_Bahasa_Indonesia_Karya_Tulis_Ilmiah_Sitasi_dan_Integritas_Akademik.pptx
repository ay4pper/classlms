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notesMasterIdLst>
    <p:notesMasterId r:id="rId11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notesMaster" Target="notesMasters/notesMaster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heme" Target="theme/theme1.xml"/><Relationship Id="rId15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658368" y="914400"/>
            <a:ext cx="7132320" cy="4754880"/>
          </a:xfrm>
          <a:prstGeom prst="roundRect">
            <a:avLst>
              <a:gd name="adj" fmla="val 3462"/>
            </a:avLst>
          </a:prstGeom>
          <a:solidFill>
            <a:srgbClr val="FFFFFF">
              <a:alpha val="94000"/>
            </a:srgbClr>
          </a:solidFill>
          <a:ln w="12700">
            <a:solidFill>
              <a:srgbClr val="F2A0BE">
                <a:alpha val="7000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1005840" y="1234440"/>
            <a:ext cx="63093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BAHASA INDONESIA</a:t>
            </a:r>
            <a:endParaRPr lang="en-US" sz="1500" dirty="0"/>
          </a:p>
        </p:txBody>
      </p:sp>
      <p:sp>
        <p:nvSpPr>
          <p:cNvPr id="5" name="Text 2"/>
          <p:cNvSpPr/>
          <p:nvPr/>
        </p:nvSpPr>
        <p:spPr>
          <a:xfrm>
            <a:off x="1005840" y="1755648"/>
            <a:ext cx="27432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A81367"/>
                </a:solidFill>
              </a:rPr>
              <a:t>Pertemuan 4</a:t>
            </a:r>
            <a:endParaRPr lang="en-US" sz="1500" dirty="0"/>
          </a:p>
        </p:txBody>
      </p:sp>
      <p:sp>
        <p:nvSpPr>
          <p:cNvPr id="6" name="Text 3"/>
          <p:cNvSpPr/>
          <p:nvPr/>
        </p:nvSpPr>
        <p:spPr>
          <a:xfrm>
            <a:off x="1005840" y="2240280"/>
            <a:ext cx="630936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3200" b="1" dirty="0">
                <a:solidFill>
                  <a:srgbClr val="33172B"/>
                </a:solidFill>
              </a:rPr>
              <a:t>Karya Tulis Ilmiah, Sitasi, dan Integritas Akademik</a:t>
            </a:r>
            <a:endParaRPr lang="en-US" sz="3200" dirty="0"/>
          </a:p>
        </p:txBody>
      </p:sp>
      <p:sp>
        <p:nvSpPr>
          <p:cNvPr id="7" name="Text 4"/>
          <p:cNvSpPr/>
          <p:nvPr/>
        </p:nvSpPr>
        <p:spPr>
          <a:xfrm>
            <a:off x="1024128" y="3977640"/>
            <a:ext cx="6035040" cy="5943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500" dirty="0">
                <a:solidFill>
                  <a:srgbClr val="65465C"/>
                </a:solidFill>
              </a:rPr>
              <a:t>Menulis karya akademik yang sistematis, kredibel, dan bebas plagiarisme.</a:t>
            </a:r>
            <a:endParaRPr lang="en-US" sz="1500" dirty="0"/>
          </a:p>
        </p:txBody>
      </p:sp>
      <p:sp>
        <p:nvSpPr>
          <p:cNvPr id="8" name="Text 5"/>
          <p:cNvSpPr/>
          <p:nvPr/>
        </p:nvSpPr>
        <p:spPr>
          <a:xfrm>
            <a:off x="1005840" y="4892040"/>
            <a:ext cx="6126480" cy="320040"/>
          </a:xfrm>
          <a:prstGeom prst="rect">
            <a:avLst/>
          </a:prstGeom>
          <a:solidFill>
            <a:srgbClr val="E84393"/>
          </a:solidFill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</a:rPr>
              <a:t>Materi · Quiz HOTS · Penugasan · Presensi</a:t>
            </a:r>
            <a:endParaRPr lang="en-US" sz="130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1</a:t>
            </a:r>
            <a:endParaRPr lang="en-US" sz="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Capaian Pembelajaran &amp; Peta Bahasan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82296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Capaian Pembelajaran &amp; Peta Bahasan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54864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6309360" y="1508760"/>
            <a:ext cx="5303520" cy="448056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5BDD0"/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6868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Capaian pembelajaran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86868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Menjelaskan struktur karya tulis ilmiah.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Menggunakan sitasi dan daftar pustaka secara benar.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Menganalisis pentingnya integritas akademik dalam penulisan.</a:t>
            </a:r>
            <a:endParaRPr lang="en-US" sz="1300" dirty="0"/>
          </a:p>
        </p:txBody>
      </p:sp>
      <p:sp>
        <p:nvSpPr>
          <p:cNvPr id="11" name="Text 8"/>
          <p:cNvSpPr/>
          <p:nvPr/>
        </p:nvSpPr>
        <p:spPr>
          <a:xfrm>
            <a:off x="6629400" y="1783080"/>
            <a:ext cx="46634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Peta bahasan</a:t>
            </a:r>
            <a:endParaRPr lang="en-US" sz="1500" dirty="0"/>
          </a:p>
        </p:txBody>
      </p:sp>
      <p:sp>
        <p:nvSpPr>
          <p:cNvPr id="12" name="Text 9"/>
          <p:cNvSpPr/>
          <p:nvPr/>
        </p:nvSpPr>
        <p:spPr>
          <a:xfrm>
            <a:off x="6629400" y="2240280"/>
            <a:ext cx="4572000" cy="32918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Struktur karya ilmiah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Sitasi dan parafrase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Plagiarisme dan etika akademik</a:t>
            </a:r>
            <a:endParaRPr lang="en-US" sz="1300" dirty="0"/>
          </a:p>
          <a:p>
            <a:pPr indent="0" marL="0">
              <a:buNone/>
            </a:pPr>
            <a:r>
              <a:rPr lang="en-US" sz="1300" dirty="0">
                <a:solidFill>
                  <a:srgbClr val="33172B"/>
                </a:solidFill>
              </a:rPr>
              <a:t>• Daftar pustaka</a:t>
            </a:r>
            <a:endParaRPr lang="en-US" sz="1300" dirty="0"/>
          </a:p>
        </p:txBody>
      </p:sp>
      <p:sp>
        <p:nvSpPr>
          <p:cNvPr id="13" name="Text 10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4" name="Text 11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2</a:t>
            </a:r>
            <a:endParaRPr lang="en-US" sz="8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Struktur Karya Ilmiah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Struktur Karya Ilmiah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Karya tulis ilmiah disusun secara sistematis untuk menjelaskan masalah, dasar teori, metode, hasil, pembahasan, dan kesimpulan.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Struktur umum laporan project meliputi pendahuluan, teori, metode/implementasi, hasil, pembahasan, penutup, dan lampiran.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Setiap bagian memiliki fungsi; pendahuluan menjelaskan alasan, metode menjelaskan proses, hasil menunjukkan bukti, dan pembahasan menafsirkan hasil.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Tulisan ilmiah harus berdasarkan fakta, data, teori, dan argumen logis.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3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Sitasi dan Parafrase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Sitasi dan Parafrase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Sitasi digunakan untuk memberi kredit kepada sumber dan memperkuat argumen.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Parafrase bukan mengganti beberapa kata, tetapi memahami ide sumber lalu menuliskannya kembali dengan struktur sendiri.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Kutipan langsung digunakan seperlunya jika kalimat sumber sangat penting, sedangkan parafrase lebih umum digunakan dalam laporan.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Daftar pustaka harus memuat sumber yang benar-benar digunakan dalam tulisan.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4</a:t>
            </a:r>
            <a:endParaRPr lang="en-US" sz="8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Integritas Akademik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94360" y="822960"/>
            <a:ext cx="10972800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300" b="1" dirty="0">
                <a:solidFill>
                  <a:srgbClr val="33172B"/>
                </a:solidFill>
              </a:rPr>
              <a:t>Integritas Akademik</a:t>
            </a:r>
            <a:endParaRPr lang="en-US" sz="2300" dirty="0"/>
          </a:p>
        </p:txBody>
      </p:sp>
      <p:sp>
        <p:nvSpPr>
          <p:cNvPr id="7" name="Shape 4"/>
          <p:cNvSpPr/>
          <p:nvPr/>
        </p:nvSpPr>
        <p:spPr>
          <a:xfrm>
            <a:off x="685800" y="1481328"/>
            <a:ext cx="10835640" cy="452628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83080"/>
            <a:ext cx="10149840" cy="3749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1. Integritas akademik mencakup kejujuran, tanggung jawab, dan penghargaan terhadap karya orang lain.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2. Plagiarisme terjadi ketika mengambil ide, teks, gambar, kode, atau data orang lain tanpa pengakuan yang benar.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3. Penggunaan AI atau sumber digital tetap harus disunting, diverifikasi, dan dinyatakan sesuai aturan kelas.</a:t>
            </a:r>
            <a:endParaRPr lang="en-US" sz="1420" dirty="0"/>
          </a:p>
          <a:p>
            <a:pPr indent="0" marL="0">
              <a:buNone/>
            </a:pPr>
            <a:r>
              <a:rPr lang="en-US" sz="1420" dirty="0">
                <a:solidFill>
                  <a:srgbClr val="33172B"/>
                </a:solidFill>
              </a:rPr>
              <a:t>4. Laporan yang baik menunjukkan proses kerja sendiri dan bukti pengembangan yang dapat dipertanggungjawabkan.</a:t>
            </a:r>
            <a:endParaRPr lang="en-US" sz="1420" dirty="0"/>
          </a:p>
        </p:txBody>
      </p:sp>
      <p:sp>
        <p:nvSpPr>
          <p:cNvPr id="9" name="Text 6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0" name="Text 7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5</a:t>
            </a:r>
            <a:endParaRPr lang="en-US" sz="8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Studi Kasus &amp; Diskusi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Studi Kasus untuk Diskusi Kelas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85800" y="1417320"/>
            <a:ext cx="10972800" cy="210312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1005840" y="1737360"/>
            <a:ext cx="10287000" cy="14173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Mahasiswa menyalin penjelasan WordPress dari internet ke laporan tanpa sitasi. Ia hanya mengganti beberapa kata agar terlihat berbeda.</a:t>
            </a:r>
            <a:endParaRPr lang="en-US" sz="1400" dirty="0"/>
          </a:p>
        </p:txBody>
      </p:sp>
      <p:sp>
        <p:nvSpPr>
          <p:cNvPr id="9" name="Text 6"/>
          <p:cNvSpPr/>
          <p:nvPr/>
        </p:nvSpPr>
        <p:spPr>
          <a:xfrm>
            <a:off x="777240" y="3794760"/>
            <a:ext cx="3657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Pertanyaan diskusi:</a:t>
            </a:r>
            <a:endParaRPr lang="en-US" sz="1500" dirty="0"/>
          </a:p>
        </p:txBody>
      </p:sp>
      <p:sp>
        <p:nvSpPr>
          <p:cNvPr id="10" name="Text 7"/>
          <p:cNvSpPr/>
          <p:nvPr/>
        </p:nvSpPr>
        <p:spPr>
          <a:xfrm>
            <a:off x="1005840" y="4206240"/>
            <a:ext cx="10058400" cy="146304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Mengapa tindakan tersebut tetap termasuk masalah integritas akademik?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Bagaimana cara parafrase dan sitasi yang benar?</a:t>
            </a:r>
            <a:endParaRPr lang="en-US" sz="1350" dirty="0"/>
          </a:p>
          <a:p>
            <a:pPr indent="0" marL="0">
              <a:buNone/>
            </a:pPr>
            <a:r>
              <a:rPr lang="en-US" sz="1350" dirty="0">
                <a:solidFill>
                  <a:srgbClr val="33172B"/>
                </a:solidFill>
              </a:rPr>
              <a:t>• Apa risiko akademik dari plagiarisme dalam laporan project?</a:t>
            </a:r>
            <a:endParaRPr lang="en-US" sz="1350" dirty="0"/>
          </a:p>
        </p:txBody>
      </p:sp>
      <p:sp>
        <p:nvSpPr>
          <p:cNvPr id="11" name="Text 8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2" name="Text 9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6</a:t>
            </a:r>
            <a:endParaRPr lang="en-US" sz="8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Aktivitas Praktik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Aktivitas Praktik Terarah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508760"/>
            <a:ext cx="10789920" cy="4160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1. Cari satu paragraf teori, lalu buat parafrase akademik.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2. Tambahkan sitasi sesuai format yang diminta dosen.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3. Susun daftar pustaka dari sumber tersebut.</a:t>
            </a:r>
            <a:endParaRPr lang="en-US" sz="1400" dirty="0"/>
          </a:p>
          <a:p>
            <a:pPr indent="0" marL="0">
              <a:buNone/>
            </a:pPr>
            <a:r>
              <a:rPr lang="en-US" sz="1400" dirty="0">
                <a:solidFill>
                  <a:srgbClr val="33172B"/>
                </a:solidFill>
              </a:rPr>
              <a:t>4. Lakukan pengecekan apakah parafrase masih terlalu mirip dengan sumber.</a:t>
            </a:r>
            <a:endParaRPr lang="en-US" sz="1400" dirty="0"/>
          </a:p>
        </p:txBody>
      </p:sp>
      <p:sp>
        <p:nvSpPr>
          <p:cNvPr id="8" name="Shape 5"/>
          <p:cNvSpPr/>
          <p:nvPr/>
        </p:nvSpPr>
        <p:spPr>
          <a:xfrm>
            <a:off x="822960" y="5806440"/>
            <a:ext cx="10561320" cy="0"/>
          </a:xfrm>
          <a:prstGeom prst="line">
            <a:avLst/>
          </a:prstGeom>
          <a:noFill/>
          <a:ln w="17780">
            <a:solidFill>
              <a:srgbClr val="E84393">
                <a:alpha val="70000"/>
              </a:srgbClr>
            </a:solidFill>
            <a:prstDash val="solid"/>
          </a:ln>
        </p:spPr>
      </p:sp>
      <p:sp>
        <p:nvSpPr>
          <p:cNvPr id="9" name="Text 6"/>
          <p:cNvSpPr/>
          <p:nvPr/>
        </p:nvSpPr>
        <p:spPr>
          <a:xfrm>
            <a:off x="822960" y="5943600"/>
            <a:ext cx="10607040" cy="3017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b="1" dirty="0">
                <a:solidFill>
                  <a:srgbClr val="A81367"/>
                </a:solidFill>
              </a:rPr>
              <a:t>Output aktivitas: catatan analisis singkat / draft solusi / kode / rancangan sesuai topik.</a:t>
            </a:r>
            <a:endParaRPr lang="en-US" sz="1150" dirty="0"/>
          </a:p>
        </p:txBody>
      </p:sp>
      <p:sp>
        <p:nvSpPr>
          <p:cNvPr id="10" name="Text 7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1" name="Text 8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7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Quiz / Latihan HOTS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Quiz / Latihan HOTS</a:t>
            </a:r>
            <a:endParaRPr lang="en-US" sz="2400" dirty="0"/>
          </a:p>
        </p:txBody>
      </p:sp>
      <p:sp>
        <p:nvSpPr>
          <p:cNvPr id="7" name="Text 4"/>
          <p:cNvSpPr/>
          <p:nvPr/>
        </p:nvSpPr>
        <p:spPr>
          <a:xfrm>
            <a:off x="822960" y="1417320"/>
            <a:ext cx="10744200" cy="48006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1. Apa fungsi sitasi dalam karya ilmiah?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2. Mengapa parafrase harus tetap mencantumkan sumber?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3. Berikan contoh tindakan plagiarisme selain menyalin teks.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4. Apa perbedaan kutipan langsung dan parafrase?</a:t>
            </a:r>
            <a:endParaRPr lang="en-US" sz="1340" dirty="0"/>
          </a:p>
          <a:p>
            <a:pPr indent="0" marL="0">
              <a:buNone/>
            </a:pPr>
            <a:r>
              <a:rPr lang="en-US" sz="1340" dirty="0">
                <a:solidFill>
                  <a:srgbClr val="33172B"/>
                </a:solidFill>
              </a:rPr>
              <a:t>5. Bagaimana menggunakan AI secara etis dalam penulisan laporan?</a:t>
            </a:r>
            <a:endParaRPr lang="en-US" sz="1340" dirty="0"/>
          </a:p>
        </p:txBody>
      </p:sp>
      <p:sp>
        <p:nvSpPr>
          <p:cNvPr id="8" name="Text 5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9" name="Text 6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8</a:t>
            </a:r>
            <a:endParaRPr lang="en-US" sz="8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/mnt/data/a_clean_pastel_presentation_background_scene_a_wi_batch_5_small.jp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hape 0"/>
          <p:cNvSpPr/>
          <p:nvPr/>
        </p:nvSpPr>
        <p:spPr>
          <a:xfrm>
            <a:off x="0" y="0"/>
            <a:ext cx="12191695" cy="566928"/>
          </a:xfrm>
          <a:prstGeom prst="rect">
            <a:avLst/>
          </a:prstGeom>
          <a:solidFill>
            <a:srgbClr val="E84393"/>
          </a:solidFill>
          <a:ln w="12700">
            <a:solidFill>
              <a:srgbClr val="333333">
                <a:alpha val="0"/>
              </a:srgbClr>
            </a:solidFill>
            <a:prstDash val="solid"/>
          </a:ln>
        </p:spPr>
      </p:sp>
      <p:sp>
        <p:nvSpPr>
          <p:cNvPr id="4" name="Text 1"/>
          <p:cNvSpPr/>
          <p:nvPr/>
        </p:nvSpPr>
        <p:spPr>
          <a:xfrm>
            <a:off x="411480" y="155448"/>
            <a:ext cx="39776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Bahasa Indonesia · Pertemuan 4</a:t>
            </a:r>
            <a:endParaRPr lang="en-US" sz="950" dirty="0"/>
          </a:p>
        </p:txBody>
      </p:sp>
      <p:sp>
        <p:nvSpPr>
          <p:cNvPr id="5" name="Text 2"/>
          <p:cNvSpPr/>
          <p:nvPr/>
        </p:nvSpPr>
        <p:spPr>
          <a:xfrm>
            <a:off x="5166360" y="128016"/>
            <a:ext cx="6583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1050" b="1" dirty="0">
                <a:solidFill>
                  <a:srgbClr val="FFFFFF"/>
                </a:solidFill>
                <a:latin typeface="Aptos" pitchFamily="34" charset="0"/>
                <a:ea typeface="Aptos" pitchFamily="34" charset="-122"/>
                <a:cs typeface="Aptos" pitchFamily="34" charset="-120"/>
              </a:rPr>
              <a:t>Penugasan &amp; Presensi</a:t>
            </a:r>
            <a:endParaRPr lang="en-US" sz="1050" dirty="0"/>
          </a:p>
        </p:txBody>
      </p:sp>
      <p:sp>
        <p:nvSpPr>
          <p:cNvPr id="6" name="Text 3"/>
          <p:cNvSpPr/>
          <p:nvPr/>
        </p:nvSpPr>
        <p:spPr>
          <a:xfrm>
            <a:off x="548640" y="777240"/>
            <a:ext cx="110642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400" b="1" dirty="0">
                <a:solidFill>
                  <a:srgbClr val="33172B"/>
                </a:solidFill>
              </a:rPr>
              <a:t>Penugasan Terstruktur</a:t>
            </a:r>
            <a:endParaRPr lang="en-US" sz="2400" dirty="0"/>
          </a:p>
        </p:txBody>
      </p:sp>
      <p:sp>
        <p:nvSpPr>
          <p:cNvPr id="7" name="Shape 4"/>
          <p:cNvSpPr/>
          <p:nvPr/>
        </p:nvSpPr>
        <p:spPr>
          <a:xfrm>
            <a:off x="640080" y="1371600"/>
            <a:ext cx="6537960" cy="4343400"/>
          </a:xfrm>
          <a:prstGeom prst="roundRect">
            <a:avLst/>
          </a:prstGeom>
          <a:solidFill>
            <a:srgbClr val="FFFFFF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960120" y="1691640"/>
            <a:ext cx="5943600" cy="356616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t">
            <a:normAutofit/>
          </a:bodyPr>
          <a:lstStyle/>
          <a:p>
            <a:pPr indent="0" marL="0">
              <a:buNone/>
            </a:pPr>
            <a:r>
              <a:rPr lang="en-US" sz="1320" dirty="0">
                <a:solidFill>
                  <a:srgbClr val="33172B"/>
                </a:solidFill>
              </a:rPr>
              <a:t>Buat mini literature review 600 kata tentang LMS/WordPress dalam pendidikan. Gunakan minimal 3 sumber, parafrase, sitasi, dan daftar pustaka.</a:t>
            </a:r>
            <a:endParaRPr lang="en-US" sz="1320" dirty="0"/>
          </a:p>
        </p:txBody>
      </p:sp>
      <p:sp>
        <p:nvSpPr>
          <p:cNvPr id="9" name="Shape 6"/>
          <p:cNvSpPr/>
          <p:nvPr/>
        </p:nvSpPr>
        <p:spPr>
          <a:xfrm>
            <a:off x="7452360" y="1371600"/>
            <a:ext cx="4069080" cy="4343400"/>
          </a:xfrm>
          <a:prstGeom prst="roundRect">
            <a:avLst/>
          </a:prstGeom>
          <a:solidFill>
            <a:srgbClr val="FFF8FB"/>
          </a:solidFill>
          <a:ln w="12700">
            <a:solidFill>
              <a:srgbClr val="F4A9C1"/>
            </a:solidFill>
            <a:prstDash val="solid"/>
          </a:ln>
        </p:spPr>
      </p:sp>
      <p:sp>
        <p:nvSpPr>
          <p:cNvPr id="10" name="Text 7"/>
          <p:cNvSpPr/>
          <p:nvPr/>
        </p:nvSpPr>
        <p:spPr>
          <a:xfrm>
            <a:off x="7772400" y="1691640"/>
            <a:ext cx="34747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500" b="1" dirty="0">
                <a:solidFill>
                  <a:srgbClr val="E84393"/>
                </a:solidFill>
              </a:rPr>
              <a:t>Rubrik ringkas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0" y="2148840"/>
            <a:ext cx="3474720" cy="160020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konsep: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Kedalaman analisis: 30%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Orisinalitas solusi: 20%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Kerapian format: 10%</a:t>
            </a:r>
            <a:endParaRPr lang="en-US" sz="1250" dirty="0"/>
          </a:p>
          <a:p>
            <a:pPr indent="0" marL="0">
              <a:buNone/>
            </a:pPr>
            <a:r>
              <a:rPr lang="en-US" sz="1250" dirty="0">
                <a:solidFill>
                  <a:srgbClr val="33172B"/>
                </a:solidFill>
              </a:rPr>
              <a:t>• Ketepatan waktu: 10%</a:t>
            </a:r>
            <a:endParaRPr lang="en-US" sz="1250" dirty="0"/>
          </a:p>
        </p:txBody>
      </p:sp>
      <p:sp>
        <p:nvSpPr>
          <p:cNvPr id="12" name="Text 9"/>
          <p:cNvSpPr/>
          <p:nvPr/>
        </p:nvSpPr>
        <p:spPr>
          <a:xfrm>
            <a:off x="7772400" y="4069080"/>
            <a:ext cx="34747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E84393"/>
                </a:solidFill>
              </a:rPr>
              <a:t>Presensi LMS</a:t>
            </a:r>
            <a:endParaRPr lang="en-US" sz="1450" dirty="0"/>
          </a:p>
        </p:txBody>
      </p:sp>
      <p:sp>
        <p:nvSpPr>
          <p:cNvPr id="13" name="Text 10"/>
          <p:cNvSpPr/>
          <p:nvPr/>
        </p:nvSpPr>
        <p:spPr>
          <a:xfrm>
            <a:off x="7772400" y="4480560"/>
            <a:ext cx="3474720" cy="7315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1100" dirty="0">
                <a:solidFill>
                  <a:srgbClr val="65465C"/>
                </a:solidFill>
              </a:rPr>
              <a:t>Isi nama, NIM, kelas, mata kuliah, pertemuan, dan centang pernyataan: “Saya telah mempelajari materi serta mengerjakan latihan.”</a:t>
            </a:r>
            <a:endParaRPr lang="en-US" sz="1100" dirty="0"/>
          </a:p>
        </p:txBody>
      </p:sp>
      <p:sp>
        <p:nvSpPr>
          <p:cNvPr id="14" name="Text 11"/>
          <p:cNvSpPr/>
          <p:nvPr/>
        </p:nvSpPr>
        <p:spPr>
          <a:xfrm>
            <a:off x="411480" y="6565392"/>
            <a:ext cx="39319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LMS WordPress · Level Mahasiswa</a:t>
            </a:r>
            <a:endParaRPr lang="en-US" sz="800" dirty="0"/>
          </a:p>
        </p:txBody>
      </p:sp>
      <p:sp>
        <p:nvSpPr>
          <p:cNvPr id="15" name="Text 12"/>
          <p:cNvSpPr/>
          <p:nvPr/>
        </p:nvSpPr>
        <p:spPr>
          <a:xfrm>
            <a:off x="11521440" y="6565392"/>
            <a:ext cx="27432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65465C"/>
                </a:solidFill>
              </a:rPr>
              <a:t>9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ptos Display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9</Slides>
  <Notes>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2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</vt:vector>
  </TitlesOfParts>
  <Company>Pendidikan Komputer FKIP ULM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/mnt/data/PPT_LMS_Pink_Level_Dosen_Per_Pertemuan/04_Bahasa_Indonesia_Karya_Tulis_Ilmiah_Sitasi_dan_Integritas_Akademik.pptx</dc:title>
  <dc:subject>Materi LMS Level Mahasiswa</dc:subject>
  <dc:creator>LMS WordPress Project</dc:creator>
  <cp:lastModifiedBy>LMS WordPress Project</cp:lastModifiedBy>
  <cp:revision>1</cp:revision>
  <dcterms:created xsi:type="dcterms:W3CDTF">2026-06-15T16:45:28Z</dcterms:created>
  <dcterms:modified xsi:type="dcterms:W3CDTF">2026-06-15T16:45:28Z</dcterms:modified>
</cp:coreProperties>
</file>