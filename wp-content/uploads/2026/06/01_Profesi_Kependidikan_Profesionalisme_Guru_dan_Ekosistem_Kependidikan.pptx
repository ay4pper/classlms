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soft_pastel_educational_themed_background_batch_1_sm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58368" y="914400"/>
            <a:ext cx="7132320" cy="4754880"/>
          </a:xfrm>
          <a:prstGeom prst="roundRect">
            <a:avLst>
              <a:gd name="adj" fmla="val 3462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F2A0BE">
                <a:alpha val="7000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005840" y="123444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4393"/>
                </a:solidFill>
              </a:rPr>
              <a:t>PROFESI KEPENDIDIKAN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1005840" y="17556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81367"/>
                </a:solidFill>
              </a:rPr>
              <a:t>Pertemuan 1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05840" y="2240280"/>
            <a:ext cx="6309360" cy="1463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33172B"/>
                </a:solidFill>
              </a:rPr>
              <a:t>Profesionalisme Guru dan Ekosistem Kependidikan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1024128" y="3977640"/>
            <a:ext cx="60350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5465C"/>
                </a:solidFill>
              </a:rPr>
              <a:t>Memahami guru sebagai profesi, bukan sekadar pekerjaan mengajar.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005840" y="4892040"/>
            <a:ext cx="6126480" cy="320040"/>
          </a:xfrm>
          <a:prstGeom prst="rect">
            <a:avLst/>
          </a:prstGeom>
          <a:solidFill>
            <a:srgbClr val="E8439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Materi · Quiz HOTS · Penugasan · Presensi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11480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LMS WordPress · Level Mahasiswa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52144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soft_pastel_educational_themed_background_batch_1_sm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8439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15544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Profesi Kependidikan · Pertemuan 1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166360" y="12801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Capaian Pembelajaran &amp; Peta Bahasan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8640" y="8229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172B"/>
                </a:solidFill>
              </a:rPr>
              <a:t>Capaian Pembelajaran &amp; Peta Bahasan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548640" y="1508760"/>
            <a:ext cx="53035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BDD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309360" y="1508760"/>
            <a:ext cx="53035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BDD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8680" y="178308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4393"/>
                </a:solidFill>
              </a:rPr>
              <a:t>Capaian pembelajaran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68680" y="2240280"/>
            <a:ext cx="4572000" cy="3291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3172B"/>
                </a:solidFill>
              </a:rPr>
              <a:t>• Menganalisis ciri profesi guru berdasarkan keahlian, tanggung jawab, dan kode etik.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172B"/>
                </a:solidFill>
              </a:rPr>
              <a:t>• Membedakan peran pendidik, tenaga kependidikan, sekolah, orang tua, dan masyarakat.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172B"/>
                </a:solidFill>
              </a:rPr>
              <a:t>• Menjelaskan hubungan profesionalisme guru dengan mutu pembelajaran.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629400" y="178308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4393"/>
                </a:solidFill>
              </a:rPr>
              <a:t>Peta bahasan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629400" y="2240280"/>
            <a:ext cx="4572000" cy="3291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3172B"/>
                </a:solidFill>
              </a:rPr>
              <a:t>• Konsep profesi dan profesionalisme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172B"/>
                </a:solidFill>
              </a:rPr>
              <a:t>• Ekosistem pendidikan formal dan nonformal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172B"/>
                </a:solidFill>
              </a:rPr>
              <a:t>• Akuntabilitas, layanan publik, dan mutu sekolah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172B"/>
                </a:solidFill>
              </a:rPr>
              <a:t>• Indikator guru profesional di era digital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11480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LMS WordPress · Level Mahasiswa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1152144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soft_pastel_educational_themed_background_batch_1_sm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8439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15544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Profesi Kependidikan · Pertemuan 1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166360" y="12801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Hakikat Profesi Kependidikan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94360" y="822960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33172B"/>
                </a:solidFill>
              </a:rPr>
              <a:t>Hakikat Profesi Kependidikan</a:t>
            </a:r>
            <a:endParaRPr lang="en-US" sz="2300" dirty="0"/>
          </a:p>
        </p:txBody>
      </p:sp>
      <p:sp>
        <p:nvSpPr>
          <p:cNvPr id="7" name="Shape 4"/>
          <p:cNvSpPr/>
          <p:nvPr/>
        </p:nvSpPr>
        <p:spPr>
          <a:xfrm>
            <a:off x="685800" y="1481328"/>
            <a:ext cx="1083564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A9C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05840" y="1783080"/>
            <a:ext cx="10149840" cy="3749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1. Profesi kependidikan mencakup pekerjaan yang memerlukan kompetensi pedagogik, sosial, profesional, dan kepribadian, bukan hanya kemampuan menyampaikan materi.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2. Guru disebut profesi karena memiliki basis keilmuan, standar kompetensi, kode etik, organisasi profesi, serta tanggung jawab publik terhadap perkembangan peserta didik.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3. Tenaga kependidikan seperti kepala sekolah, laboran, pustakawan, dan operator sekolah menjadi bagian dari sistem layanan pendidikan yang saling bergantung.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4. Profesionalisme guru tampak pada perencanaan pembelajaran yang terukur, pelaksanaan yang reflektif, penilaian yang adil, dan komitmen peningkatan kualitas berkelanjutan.</a:t>
            </a:r>
            <a:endParaRPr lang="en-US" sz="1420" dirty="0"/>
          </a:p>
        </p:txBody>
      </p:sp>
      <p:sp>
        <p:nvSpPr>
          <p:cNvPr id="9" name="Text 6"/>
          <p:cNvSpPr/>
          <p:nvPr/>
        </p:nvSpPr>
        <p:spPr>
          <a:xfrm>
            <a:off x="411480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LMS WordPress · Level Mahasiswa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52144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soft_pastel_educational_themed_background_batch_1_sm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8439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15544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Profesi Kependidikan · Pertemuan 1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166360" y="12801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Ekosistem Kependidikan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94360" y="822960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33172B"/>
                </a:solidFill>
              </a:rPr>
              <a:t>Ekosistem Kependidikan</a:t>
            </a:r>
            <a:endParaRPr lang="en-US" sz="2300" dirty="0"/>
          </a:p>
        </p:txBody>
      </p:sp>
      <p:sp>
        <p:nvSpPr>
          <p:cNvPr id="7" name="Shape 4"/>
          <p:cNvSpPr/>
          <p:nvPr/>
        </p:nvSpPr>
        <p:spPr>
          <a:xfrm>
            <a:off x="685800" y="1481328"/>
            <a:ext cx="1083564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A9C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05840" y="1783080"/>
            <a:ext cx="10149840" cy="3749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1. Sekolah merupakan ekosistem yang melibatkan guru, peserta didik, orang tua, komunitas, pemerintah, dan teknologi.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2. Masalah pembelajaran jarang berdiri sendiri; rendahnya hasil belajar dapat dipengaruhi motivasi, metode, sarana, kurikulum, komunikasi keluarga, dan budaya sekolah.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3. Guru perlu memahami konteks sosial peserta didik agar keputusan pembelajaran tidak hanya berbasis nilai, tetapi juga kebutuhan belajar dan kondisi nyata.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4. Kolaborasi antar aktor pendidikan menentukan kualitas layanan: guru merancang pembelajaran, sekolah menyediakan sistem, keluarga memperkuat dukungan belajar.</a:t>
            </a:r>
            <a:endParaRPr lang="en-US" sz="1420" dirty="0"/>
          </a:p>
        </p:txBody>
      </p:sp>
      <p:sp>
        <p:nvSpPr>
          <p:cNvPr id="9" name="Text 6"/>
          <p:cNvSpPr/>
          <p:nvPr/>
        </p:nvSpPr>
        <p:spPr>
          <a:xfrm>
            <a:off x="411480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LMS WordPress · Level Mahasiswa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52144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soft_pastel_educational_themed_background_batch_1_sm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8439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15544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Profesi Kependidikan · Pertemuan 1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166360" y="12801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Indikator Profesionalisme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94360" y="822960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33172B"/>
                </a:solidFill>
              </a:rPr>
              <a:t>Indikator Profesionalisme</a:t>
            </a:r>
            <a:endParaRPr lang="en-US" sz="2300" dirty="0"/>
          </a:p>
        </p:txBody>
      </p:sp>
      <p:sp>
        <p:nvSpPr>
          <p:cNvPr id="7" name="Shape 4"/>
          <p:cNvSpPr/>
          <p:nvPr/>
        </p:nvSpPr>
        <p:spPr>
          <a:xfrm>
            <a:off x="685800" y="1481328"/>
            <a:ext cx="1083564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A9C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05840" y="1783080"/>
            <a:ext cx="10149840" cy="3749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1. Guru profesional mampu menyusun tujuan pembelajaran yang spesifik, memilih strategi sesuai karakter peserta didik, dan menggunakan asesmen untuk memperbaiki pembelajaran.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2. Profesionalisme juga mencakup integritas: tidak diskriminatif, menjaga kerahasiaan data siswa, serta menghindari penyalahgunaan kuasa.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3. Di era digital, guru perlu literasi teknologi, literasi data, serta kemampuan mengevaluasi sumber informasi dan penggunaan AI dalam pembelajaran.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4. Profesionalisme bukan kondisi selesai, melainkan proses refleksi, pelatihan, kolaborasi, dan perbaikan praktik secara terus-menerus.</a:t>
            </a:r>
            <a:endParaRPr lang="en-US" sz="1420" dirty="0"/>
          </a:p>
        </p:txBody>
      </p:sp>
      <p:sp>
        <p:nvSpPr>
          <p:cNvPr id="9" name="Text 6"/>
          <p:cNvSpPr/>
          <p:nvPr/>
        </p:nvSpPr>
        <p:spPr>
          <a:xfrm>
            <a:off x="411480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LMS WordPress · Level Mahasiswa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52144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soft_pastel_educational_themed_background_batch_1_sm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8439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15544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Profesi Kependidikan · Pertemuan 1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166360" y="12801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Studi Kasus &amp; Diskusi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8640" y="7772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172B"/>
                </a:solidFill>
              </a:rPr>
              <a:t>Studi Kasus untuk Diskusi Kelas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685800" y="1417320"/>
            <a:ext cx="1097280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A9C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05840" y="1737360"/>
            <a:ext cx="1028700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172B"/>
                </a:solidFill>
              </a:rPr>
              <a:t>Sebuah kelas memiliki hasil belajar rendah. Guru menyalahkan siswa karena dianggap malas, sementara siswa merasa metode pembelajaran monoton dan tugas tidak jelas. Orang tua juga jarang mendapat informasi perkembangan belajar.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77240" y="3794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4393"/>
                </a:solidFill>
              </a:rPr>
              <a:t>Pertanyaan diskusi: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005840" y="4206240"/>
            <a:ext cx="10058400" cy="1463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3172B"/>
                </a:solidFill>
              </a:rPr>
              <a:t>• Apa masalah utama kasus tersebut jika dilihat dari ekosistem kependidikan?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33172B"/>
                </a:solidFill>
              </a:rPr>
              <a:t>• Bagaimana indikator guru profesional dapat digunakan untuk memperbaiki situasi?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33172B"/>
                </a:solidFill>
              </a:rPr>
              <a:t>• Apa bentuk kolaborasi guru, sekolah, dan orang tua yang paling realistis?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411480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LMS WordPress · Level Mahasiswa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1152144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soft_pastel_educational_themed_background_batch_1_sm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8439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15544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Profesi Kependidikan · Pertemuan 1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166360" y="12801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Aktivitas Praktik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8640" y="7772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172B"/>
                </a:solidFill>
              </a:rPr>
              <a:t>Aktivitas Praktik Terarah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822960" y="1508760"/>
            <a:ext cx="10789920" cy="4160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172B"/>
                </a:solidFill>
              </a:rPr>
              <a:t>1. Identifikasi 3 aktor dalam ekosistem pendidikan dan kontribusi masing-masing terhadap mutu belajar.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172B"/>
                </a:solidFill>
              </a:rPr>
              <a:t>2. Buat diagram sebab-akibat rendahnya hasil belajar berdasarkan kasus.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172B"/>
                </a:solidFill>
              </a:rPr>
              <a:t>3. Rancang 3 tindakan perbaikan yang dapat dilakukan guru dalam 2 minggu.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172B"/>
                </a:solidFill>
              </a:rPr>
              <a:t>4. Diskusikan indikator keberhasilan dari tindakan yang dipilih.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22960" y="5806440"/>
            <a:ext cx="10561320" cy="0"/>
          </a:xfrm>
          <a:prstGeom prst="line">
            <a:avLst/>
          </a:prstGeom>
          <a:noFill/>
          <a:ln w="17780">
            <a:solidFill>
              <a:srgbClr val="E84393">
                <a:alpha val="7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5943600"/>
            <a:ext cx="10607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81367"/>
                </a:solidFill>
              </a:rPr>
              <a:t>Output aktivitas: catatan analisis singkat / draft solusi / kode / rancangan sesuai topik.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11480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LMS WordPress · Level Mahasiswa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152144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soft_pastel_educational_themed_background_batch_1_sm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8439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15544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Profesi Kependidikan · Pertemuan 1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166360" y="12801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Quiz / Latihan HOTS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8640" y="7772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172B"/>
                </a:solidFill>
              </a:rPr>
              <a:t>Quiz / Latihan HOTS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822960" y="1417320"/>
            <a:ext cx="10744200" cy="4800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33172B"/>
                </a:solidFill>
              </a:rPr>
              <a:t>1. Jelaskan mengapa profesi guru tidak cukup dinilai dari kemampuan menjelaskan materi saja.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33172B"/>
                </a:solidFill>
              </a:rPr>
              <a:t>2. Analisis hubungan antara kode etik guru dan kepercayaan publik terhadap sekolah.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33172B"/>
                </a:solidFill>
              </a:rPr>
              <a:t>3. Dalam kasus kelas pasif, faktor apa saja yang perlu dianalisis sebelum menyimpulkan siswa tidak memiliki motivasi?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33172B"/>
                </a:solidFill>
              </a:rPr>
              <a:t>4. Bandingkan peran pendidik dan tenaga kependidikan dalam mendukung proses pembelajaran.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33172B"/>
                </a:solidFill>
              </a:rPr>
              <a:t>5. Buat satu indikator observasi untuk menilai profesionalisme guru saat mengajar.</a:t>
            </a:r>
            <a:endParaRPr lang="en-US" sz="1340" dirty="0"/>
          </a:p>
        </p:txBody>
      </p:sp>
      <p:sp>
        <p:nvSpPr>
          <p:cNvPr id="8" name="Text 5"/>
          <p:cNvSpPr/>
          <p:nvPr/>
        </p:nvSpPr>
        <p:spPr>
          <a:xfrm>
            <a:off x="411480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LMS WordPress · Level Mahasiswa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1152144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soft_pastel_educational_themed_background_batch_1_sm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8439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15544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Profesi Kependidikan · Pertemuan 1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166360" y="12801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Penugasan &amp; Presensi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8640" y="7772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172B"/>
                </a:solidFill>
              </a:rPr>
              <a:t>Penugasan Terstruktur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640080" y="1371600"/>
            <a:ext cx="653796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A9C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60120" y="1691640"/>
            <a:ext cx="5943600" cy="3566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33172B"/>
                </a:solidFill>
              </a:rPr>
              <a:t>Tulis esai analitis 700–900 kata berjudul “Guru Profesional dalam Ekosistem Pendidikan Digital”. Esai harus memuat konsep profesi, peran aktor pendidikan, contoh masalah nyata, dan rekomendasi perbaikan.</a:t>
            </a:r>
            <a:endParaRPr lang="en-US" sz="1320" dirty="0"/>
          </a:p>
        </p:txBody>
      </p:sp>
      <p:sp>
        <p:nvSpPr>
          <p:cNvPr id="9" name="Shape 6"/>
          <p:cNvSpPr/>
          <p:nvPr/>
        </p:nvSpPr>
        <p:spPr>
          <a:xfrm>
            <a:off x="7452360" y="1371600"/>
            <a:ext cx="4069080" cy="4343400"/>
          </a:xfrm>
          <a:prstGeom prst="roundRect">
            <a:avLst/>
          </a:prstGeom>
          <a:solidFill>
            <a:srgbClr val="FFF8FB"/>
          </a:solidFill>
          <a:ln w="12700">
            <a:solidFill>
              <a:srgbClr val="F4A9C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0" y="16916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4393"/>
                </a:solidFill>
              </a:rPr>
              <a:t>Rubrik ringkas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772400" y="2148840"/>
            <a:ext cx="3474720" cy="1600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3172B"/>
                </a:solidFill>
              </a:rPr>
              <a:t>• Ketepatan konsep: 30%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172B"/>
                </a:solidFill>
              </a:rPr>
              <a:t>• Kedalaman analisis: 30%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172B"/>
                </a:solidFill>
              </a:rPr>
              <a:t>• Orisinalitas solusi: 20%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172B"/>
                </a:solidFill>
              </a:rPr>
              <a:t>• Kerapian format: 10%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172B"/>
                </a:solidFill>
              </a:rPr>
              <a:t>• Ketepatan waktu: 10%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7772400" y="406908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84393"/>
                </a:solidFill>
              </a:rPr>
              <a:t>Presensi LMS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7772400" y="4480560"/>
            <a:ext cx="347472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5465C"/>
                </a:solidFill>
              </a:rPr>
              <a:t>Isi nama, NIM, kelas, mata kuliah, pertemuan, dan centang pernyataan: “Saya telah mempelajari materi serta mengerjakan latihan.”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11480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LMS WordPress · Level Mahasiswa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1152144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Pendidikan Komputer FKIP ULM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/mnt/data/PPT_LMS_Pink_Level_Dosen_Per_Pertemuan/01_Profesi_Kependidikan_Profesionalisme_Guru_dan_Ekosistem_Kependidikan.pptx</dc:title>
  <dc:subject>Materi LMS Level Mahasiswa</dc:subject>
  <dc:creator>LMS WordPress Project</dc:creator>
  <cp:lastModifiedBy>LMS WordPress Project</cp:lastModifiedBy>
  <cp:revision>1</cp:revision>
  <dcterms:created xsi:type="dcterms:W3CDTF">2026-06-15T16:45:27Z</dcterms:created>
  <dcterms:modified xsi:type="dcterms:W3CDTF">2026-06-15T16:45:27Z</dcterms:modified>
</cp:coreProperties>
</file>